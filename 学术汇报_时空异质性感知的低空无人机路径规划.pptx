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66" r:id="rId18"/>
    <p:sldId id="258" r:id="rId10"/>
    <p:sldId id="259" r:id="rId11"/>
    <p:sldId id="260" r:id="rId12"/>
    <p:sldId id="261" r:id="rId13"/>
    <p:sldId id="267" r:id="rId19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3.xml"/><Relationship Id="rId1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【10s】各位老师好，我汇报的题目是《时空异质性感知的低空无人机路径规划》。一句话概括：城市低空风险随时空剧烈变化，本研究回答'显式建模这种变化是否值得'。</a:t>
            </a:r>
          </a:p>
          <a:p>
            <a:r>
              <a:t>【主线 5 分钟路径】2→4→5→6→9→10；相关工作(3)与补充①②(7,8)时间紧可跳、留答辩用。总计时：主线 ≈ 5 min，全讲 ≈ 8 min。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50s】背景三条：低空经济、风险强时空异质（人口潮汐+风场节律+建筑峡谷）、主流方法用时间平均静态图。然后抛出科学问题：静态图会不会让特定出发时刻付出安全代价？右侧图1直观展示风险驱动因子随时段变化——风险是一张随四维变化的场，而不是一张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【60s】方法只讲两个支柱。①风险是什么：四维风险张量，坠机概率用 Cox 比例危险率（风/雨/城市峡谷三个放大因子），总成本=坠机概率×后果+噪声；数据全部真实城市数据。②怎么搜：TD-RiskA* 在4D状态空间在线采样风险，用累计危险率保证数值稳定，标签设置机制处理时间-风险-成本的多目标权衡。右侧图2预告结果：不同风险模型选出不同路线。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【50s】证据链两环：实验一回答异质性存不存在（机制），实验二回答值不值得利用（方法收益）。实验二是核心：M1/M2/M3 三组公平对照，唯一自变量是风险项的时间口径；关键设计是统一后评估——所有路径都放回真实时空场按同一口径重算，保证完全可比。右下角强调判读原则：看风险下降，不看谁更短。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【50s】实验一结论：异质性真实存在且强。空间变异系数约0.45-0.49，时间相对极差中位32%。图3给出连续演化视角：(a)走廊风险沿全天96个时相演化；(b)人口双核反相位潮汐（A 昼峰 15:45、B 夜峰 00:00，暴露层机制；P_crash 双核峰值反而同步，见指标行）；(c)风险的空间重分布；(d)垂直方向峰谷比2.1。注意这些统计量是尺度无关的，我们修正暴露口径后交叉验证一致，结论稳健。这回答了证据链第一环（H1 拒绝）：显式建模时空维度不是锦上添花。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30s-可选】一页说清楚两件事：①对出发时刻的响应很弱（极差0.41%）但高度自由度确实在用，本OD没有替代走廊；②解锁定高和定高锁的路径几乎重合（长度差9-15米），证明实验二的定高简化是合理的。如果时间紧，这页可跳过，把方法论意义一句话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55s】核心结果。上图：左两张是存活率/危险率随出发时刻——ST曲线（红）在4个时刻全部低于Static（蓝）；右下L-H散点图上Static→ST箭头指向左下=更短且更安全。四个数字卡片：①风险下降4/4时刻成立；②长度反降3.59%；③最关键——path-change rate 0.187超过0.1阈值，证明是走廊级改道而非局部微调，路径决策确实被改变；④绝对存活率0.98可直接引用。注意解读原则：我们不说'更短'是卖点，卖点是同等或更短距离下更安全。【答辩预案】若问「ΔH≈3e-4 也叫显著？」：答决策级证据——改道率 0.187 超 0.10 阈值、4/4 同向、长度代价为负（免费降风险）；绝对值依赖 λ_base 标定，风险容忍越严代价等比放大。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【35s】先点破：代价比「某些时刻」更普遍——4/4 全部考察时刻均吃亏。三条结论对应证据链两环：异质性存在、时空感知更安全、改道证据确凿。一句话总结：时间平均风险图掩盖时段性尖峰，显式建模时空异质性让无人机同样距离飞得更安全。展望两条重点：多OD多城市扩展普适性、真实气象接入。谢谢各位老师，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【备用，不主动讲】口径严谨性和公平对照设计两块，加上五个预设答辩问题。评审问到口径/权重/普适性问题时翻到这页。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【备用，不主动讲】完整Table 1数据。评审要看细节数字时翻到这页。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【30s-可选/答辩用】针对「出发时刻对比度不足」质疑的压力测试：基准四时刻恰好避开走廊风险的峰（05:45）与谷（17:45），ΔP_crash(12h−22h) 均值仅 1.4e-5。我们在风险峰/谷补跑，把时间对比度拉满（走廊风险峰谷比 1.34）：路径长度极差仅 30.3 m（0.43%），最大两两平均偏离 18.0 m，远小于格对角线 68 m，判定 same corridor。说明「本 OD 无替代走廊」经得住压力测试，路径响应主要体现在高度微调。(b) 分歧放大、(c) 偏离矩阵、(e) Δ 差值面板给出逐时刻判定依据。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【30s-40s，时间紧可跳过】相关工作三条线：Pang 2022 三维 TPR 但风险全静态（P_crash 常数）；Pang 2024 引入动态风险但无噪声/微气象/潮汐人口；TRC 2026 4D 时空 A* 但无物理建模、仅碰撞单维风险。差异化矩阵说明：本文是唯一同时具备三维 TPR、物理驱动动态性、微气象耦合与 S-T 噪声建模的方法。生态位：物理可解释的时空异质 TPR 框架（Cox PHM 微气象耦合 + 潮汐人口暴露 + S-T 噪声敏感矩阵）。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0292"/>
          </a:xfrm>
          <a:prstGeom prst="rect">
            <a:avLst/>
          </a:prstGeom>
          <a:solidFill>
            <a:srgbClr val="E8B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时空异质性感知的低空无人机路径规划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C9D6EA"/>
                </a:solidFill>
                <a:latin typeface="Microsoft YaHei"/>
              </a:rPr>
              <a:t>Spatiotemporal Heterogeneity-Aware UAV Path Planning for Urban Low-Altitude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C9D6EA"/>
                </a:solidFill>
                <a:latin typeface="Microsoft YaHei"/>
              </a:rPr>
              <a:t>研究生科技论文报告会 · 2026</a:t>
            </a:r>
          </a:p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汇报人：×××          指导教师：×××</a:t>
            </a:r>
          </a:p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1400" b="0">
                <a:solidFill>
                  <a:srgbClr val="C9D6EA"/>
                </a:solidFill>
                <a:latin typeface="Microsoft YaHei"/>
              </a:rPr>
              <a:t>×××大学  ×××学院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Microsoft YaHei"/>
              </a:rPr>
              <a:t>研究背景与科学问题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Background &amp; 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852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2E5C9A"/>
                </a:solidFill>
                <a:latin typeface="Microsoft YaHei"/>
              </a:rPr>
              <a:t>① 背景：低空经济 × 第三方风险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▸ 物流配送、巡检、应急等无人机在城市低空密集运行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▸ 坠机威胁地面行人/车辆/建筑 → </a:t>
            </a:r>
            <a:r>
              <a:rPr sz="1400" b="1">
                <a:solidFill>
                  <a:srgbClr val="C0392B"/>
                </a:solidFill>
                <a:latin typeface="Microsoft YaHei"/>
              </a:rPr>
              <a:t>第三方风险（TPR）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▸ 低空航路审批以 TPR 可接受为前提——风险必须可量化</a:t>
            </a:r>
          </a:p>
          <a:p>
            <a:r>
              <a:rPr sz="6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1800" b="1">
                <a:solidFill>
                  <a:srgbClr val="2E5C9A"/>
                </a:solidFill>
                <a:latin typeface="Microsoft YaHei"/>
              </a:rPr>
              <a:t>② 核心矛盾：安全裂隙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▸ 审批依据：时间平均的静态风险图，一张图定航线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▸ 真实风险：随微气象、建筑峡谷、人口潮汐实时变化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▸ </a:t>
            </a:r>
            <a:r>
              <a:rPr sz="1400" b="1">
                <a:solidFill>
                  <a:srgbClr val="C0392B"/>
                </a:solidFill>
                <a:latin typeface="Microsoft YaHei"/>
              </a:rPr>
              <a:t>计划安全 ≠ 执行安全</a:t>
            </a:r>
            <a:r>
              <a:rPr sz="1400" b="0">
                <a:solidFill>
                  <a:srgbClr val="262626"/>
                </a:solidFill>
                <a:latin typeface="Microsoft YaHei"/>
              </a:rPr>
              <a:t>——安全裂隙由此产生</a:t>
            </a:r>
          </a:p>
          <a:p>
            <a:r>
              <a:rPr sz="6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1800" b="1">
                <a:solidFill>
                  <a:srgbClr val="2E5C9A"/>
                </a:solidFill>
                <a:latin typeface="Microsoft YaHei"/>
              </a:rPr>
              <a:t>③ 科学问题</a:t>
            </a:r>
          </a:p>
          <a:p>
            <a:r>
              <a:rPr sz="1600" b="1">
                <a:solidFill>
                  <a:srgbClr val="1F3864"/>
                </a:solidFill>
                <a:latin typeface="Microsoft YaHei"/>
              </a:rPr>
              <a:t>只用时间平均的静态风险图做规划，</a:t>
            </a:r>
          </a:p>
          <a:p>
            <a:r>
              <a:rPr sz="1600" b="1">
                <a:solidFill>
                  <a:srgbClr val="1F3864"/>
                </a:solidFill>
                <a:latin typeface="Microsoft YaHei"/>
              </a:rPr>
              <a:t>会不会让某些出发时刻付出显著的安全代价？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▸ H1：风险场可由静态图充分刻画 → 显式建模无意义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▸ H2：静态图让规划付出安全代价 → 需要时空感知方法</a:t>
            </a:r>
          </a:p>
        </p:txBody>
      </p:sp>
      <p:pic>
        <p:nvPicPr>
          <p:cNvPr id="7" name="Picture 6" descr="fig2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48840"/>
            <a:ext cx="4937760" cy="231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12280" y="45262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图 1  风险驱动因子：情景风场（上）与人口时空分布（下）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5C9A"/>
                </a:solidFill>
                <a:latin typeface="Microsoft YaHei"/>
              </a:rPr>
              <a:t>风险不是一张图，而是一个随 (x, y, z, t) 变化的场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925312"/>
            <a:ext cx="10744200" cy="658368"/>
          </a:xfrm>
          <a:prstGeom prst="round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1F3864"/>
                </a:solidFill>
                <a:latin typeface="Microsoft YaHei"/>
              </a:rPr>
              <a:t>本文故事线：</a:t>
            </a:r>
            <a:r>
              <a:rPr sz="1200" b="0">
                <a:solidFill>
                  <a:srgbClr val="262626"/>
                </a:solidFill>
                <a:latin typeface="Microsoft YaHei"/>
              </a:rPr>
              <a:t>① 建模「为什么风险会变」（Cox PHM 微气象 × 潮汐人口 × S-T 噪声）</a:t>
            </a:r>
          </a:p>
          <a:p>
            <a:r>
              <a:rPr sz="1200" b="0">
                <a:solidFill>
                  <a:srgbClr val="262626"/>
                </a:solidFill>
                <a:latin typeface="Microsoft YaHei"/>
              </a:rPr>
              <a:t>② 规划「自动适配风险」（TD-RiskA*）</a:t>
            </a:r>
            <a:r>
              <a:rPr sz="1200" b="1">
                <a:solidFill>
                  <a:srgbClr val="C0392B"/>
                </a:solidFill>
                <a:latin typeface="Microsoft YaHei"/>
              </a:rPr>
              <a:t> → </a:t>
            </a:r>
            <a:r>
              <a:rPr sz="1200" b="0">
                <a:solidFill>
                  <a:srgbClr val="262626"/>
                </a:solidFill>
                <a:latin typeface="Microsoft YaHei"/>
              </a:rPr>
              <a:t>③ 验证「代价真实存在吗」（两环证据链：Exp1 存在吗 → Exp2 值得吗）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相关工作与研究空白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95959"/>
                </a:solidFill>
                <a:latin typeface="Microsoft YaHei"/>
              </a:rPr>
              <a:t>Related Work &amp; Research Gap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44752"/>
          <a:ext cx="6720840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325880"/>
                <a:gridCol w="1325880"/>
                <a:gridCol w="1325880"/>
                <a:gridCol w="1325880"/>
              </a:tblGrid>
              <a:tr h="482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Pang 2022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Pang 2024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TRC 2026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本文</a:t>
                      </a:r>
                    </a:p>
                  </a:txBody>
                  <a:tcPr marL="45720" marR="45720" marT="18288" marB="18288" anchor="ctr">
                    <a:solidFill>
                      <a:srgbClr val="1F3864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风险维度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致死+财产+噪声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仅地面风险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仅碰撞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Microsoft YaHei"/>
                        </a:rPr>
                        <a:t>致死+财产+噪声</a:t>
                      </a:r>
                    </a:p>
                  </a:txBody>
                  <a:tcPr marL="45720" marR="45720" marT="18288" marB="18288" anchor="ctr">
                    <a:solidFill>
                      <a:srgbClr val="FAE6E3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P_crash 建模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常数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随机扰动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数据驱动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Microsoft YaHei"/>
                        </a:rPr>
                        <a:t>Cox PHM</a:t>
                      </a:r>
                    </a:p>
                  </a:txBody>
                  <a:tcPr marL="45720" marR="45720" marT="18288" marB="18288" anchor="ctr">
                    <a:solidFill>
                      <a:srgbClr val="FAE6E3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人口密度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静态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静态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Microsoft YaHei"/>
                        </a:rPr>
                        <a:t>潮汐模型</a:t>
                      </a:r>
                    </a:p>
                  </a:txBody>
                  <a:tcPr marL="45720" marR="45720" marT="18288" marB="18288" anchor="ctr">
                    <a:solidFill>
                      <a:srgbClr val="FAE6E3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噪声模型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距离衰减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Microsoft YaHei"/>
                        </a:rPr>
                        <a:t>S-T 敏感矩阵</a:t>
                      </a:r>
                    </a:p>
                  </a:txBody>
                  <a:tcPr marL="45720" marR="45720" marT="18288" marB="18288" anchor="ctr">
                    <a:solidFill>
                      <a:srgbClr val="FAE6E3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时间维度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✓ 随机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✓ 数据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Microsoft YaHei"/>
                        </a:rPr>
                        <a:t>✓ 物理机制</a:t>
                      </a:r>
                    </a:p>
                  </a:txBody>
                  <a:tcPr marL="45720" marR="45720" marT="18288" marB="18288" anchor="ctr">
                    <a:solidFill>
                      <a:srgbClr val="FAE6E3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微气象耦合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Microsoft YaHei"/>
                        </a:rPr>
                        <a:t>✓ 风/雨/峡谷</a:t>
                      </a:r>
                    </a:p>
                  </a:txBody>
                  <a:tcPr marL="45720" marR="45720" marT="18288" marB="18288" anchor="ctr">
                    <a:solidFill>
                      <a:srgbClr val="FAE6E3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物理可解释性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低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中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低</a:t>
                      </a:r>
                    </a:p>
                  </a:txBody>
                  <a:tcPr marL="45720" marR="45720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Microsoft YaHei"/>
                        </a:rPr>
                        <a:t>高</a:t>
                      </a:r>
                    </a:p>
                  </a:txBody>
                  <a:tcPr marL="45720" marR="45720" marT="18288" marB="18288" anchor="ctr">
                    <a:solidFill>
                      <a:srgbClr val="FAE6E3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</a:rPr>
                        <a:t>规划算法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Min-cost A*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两阶段随机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TL-FDSTA*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Microsoft YaHei"/>
                        </a:rPr>
                        <a:t>TD-RiskA*</a:t>
                      </a:r>
                    </a:p>
                  </a:txBody>
                  <a:tcPr marL="45720" marR="45720" marT="18288" marB="18288" anchor="ctr">
                    <a:solidFill>
                      <a:srgbClr val="FAE6E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70448"/>
            <a:ext cx="6720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Microsoft YaHei"/>
              </a:rPr>
              <a:t>差异化矩阵：本文是唯一同时具备三维 TPR、物理驱动动态性、</a:t>
            </a:r>
          </a:p>
          <a:p>
            <a:r>
              <a:rPr sz="1200" b="0">
                <a:solidFill>
                  <a:srgbClr val="595959"/>
                </a:solidFill>
                <a:latin typeface="Microsoft YaHei"/>
              </a:rPr>
              <a:t>微气象耦合与 S-T 噪声建模的方法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444752"/>
            <a:ext cx="3749039" cy="493776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40"/>
            <a:ext cx="3246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5C9A"/>
                </a:solidFill>
                <a:latin typeface="Microsoft YaHei"/>
              </a:rPr>
              <a:t>研究空白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▸ Pang 2022：三维 TPR 框架，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   但风险全静态（P_crash 常数）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▸ Pang 2024：动态风险，但无噪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   声/微气象/潮汐人口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▸ TRC 2026：4D 时空 A*，但无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   物理建模、仅碰撞单维风险</a:t>
            </a:r>
          </a:p>
          <a:p>
            <a:r>
              <a:rPr sz="6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1800" b="1">
                <a:solidFill>
                  <a:srgbClr val="C0392B"/>
                </a:solidFill>
                <a:latin typeface="Microsoft YaHei"/>
              </a:rPr>
              <a:t>★ 本文生态位</a:t>
            </a:r>
          </a:p>
          <a:p>
            <a:r>
              <a:rPr sz="1300" b="1">
                <a:solidFill>
                  <a:srgbClr val="1F3864"/>
                </a:solidFill>
                <a:latin typeface="Microsoft YaHei"/>
              </a:rPr>
              <a:t>Cox PHM 微气象耦合</a:t>
            </a:r>
          </a:p>
          <a:p>
            <a:r>
              <a:rPr sz="1300" b="1">
                <a:solidFill>
                  <a:srgbClr val="1F3864"/>
                </a:solidFill>
                <a:latin typeface="Microsoft YaHei"/>
              </a:rPr>
              <a:t>+ 潮汐人口暴露</a:t>
            </a:r>
          </a:p>
          <a:p>
            <a:r>
              <a:rPr sz="1300" b="1">
                <a:solidFill>
                  <a:srgbClr val="1F3864"/>
                </a:solidFill>
                <a:latin typeface="Microsoft YaHei"/>
              </a:rPr>
              <a:t>+ S-T 噪声敏感矩阵</a:t>
            </a:r>
          </a:p>
          <a:p>
            <a:r>
              <a:rPr sz="6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1300" b="1">
                <a:solidFill>
                  <a:srgbClr val="C0392B"/>
                </a:solidFill>
                <a:latin typeface="Microsoft YaHei"/>
              </a:rPr>
              <a:t>→ 物理可解释的</a:t>
            </a:r>
          </a:p>
          <a:p>
            <a:r>
              <a:rPr sz="1300" b="1">
                <a:solidFill>
                  <a:srgbClr val="C0392B"/>
                </a:solidFill>
                <a:latin typeface="Microsoft YaHei"/>
              </a:rPr>
              <a:t>时空异质 TPR 框架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Microsoft YaHei"/>
              </a:rPr>
              <a:t>方法：四维风险张量 + TD-RiskA*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943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E5C9A"/>
                </a:solidFill>
                <a:latin typeface="Microsoft YaHei"/>
              </a:rPr>
              <a:t>① 风险建模：四维风险张量 Cost(x, y, z, t)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P_crash = 1 − exp( −λ_base · Φ(x,y,z,t) · Δt )   (Cox 比例危险率)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Φ = f_wind · f_rain · f_obs（风/雨/城市峡谷放大）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Cost = P_crash ·(C_fatality + C_property) + C_noise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   C_noise = I(z)·ρ_pop(x,y,t)·S_landuse·T(t)  （社会滋扰项，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   不与坠机概率相乘）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真实数据驱动：建筑高度/用地/POI/人口潮汐，100×100×12 网格，96 时相×15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5943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E5C9A"/>
                </a:solidFill>
                <a:latin typeface="Microsoft YaHei"/>
              </a:rPr>
              <a:t>② 规划算法：TD-RiskA*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搜索图 3D (x,y,z) 26 邻域；时间作为标签状态传播，沿飞行时间在线采样风险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累计危险率 H = −Σ ln(1−p)（可加），P_surv = e^(−H)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标签设置：同格多标号按 (t,H,J) 非支配共存——先到者可能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   后程更优，防误剪；到终点后按 J 取最优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目标函数（论文 Eq.10）：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62626"/>
                </a:solidFill>
                <a:latin typeface="Microsoft YaHei"/>
              </a:rPr>
              <a:t>   δJ = w_f·δC_f/Ω_f + w_p·δC_p/Ω_p + w_n·δC_n/Ω_n + w_d·d/d_max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   （即 M3 简式 J = L + λ·C(x,y,z,t) 的归一化展开）</a:t>
            </a:r>
          </a:p>
        </p:txBody>
      </p:sp>
      <p:pic>
        <p:nvPicPr>
          <p:cNvPr id="8" name="Picture 7" descr="fig1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481328"/>
            <a:ext cx="5049982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57150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图 2（论文 Fig. 2）  同一 OD、四个出发时刻 × 三种风险模型的路径决策对比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Microsoft YaHei"/>
              </a:rPr>
              <a:t>实验设计：两环证据链 + 公平对照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394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2E5C9A"/>
                </a:solidFill>
                <a:latin typeface="Microsoft YaHei"/>
              </a:rPr>
              <a:t>实验一（机制）：异质性存在吗？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表征风险场的时空异质性：空间/时间变异系数、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   走廊-时间演化、人口双核反相位潮汐、垂直廓线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同一 OD，4 个出发时刻（08/12/18/22 时）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峰谷时刻压力测试（05:45/17:45）防「对比度不足」质疑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权重敏感性扫描（4 档）防「挑参数挑出效果」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5394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Microsoft YaHei"/>
              </a:rPr>
              <a:t>实验二（核心）：异质性值得利用吗？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三组公平对照（同 OD/同权重/同搜索，仅风险时间口径不同）：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M1  Distance-only A*        J = L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M2  Static-Risk A*            J = L + λ·C̄(x,y,z)  时间平均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M3  Spatiotemporal A*     J = L + λ·C(x,y,z,t)  本文方法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12 次搜索（3 方法 × 4 时刻），全部路径在真实时空场上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   统一后评估 → 指标完全可比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417320"/>
            <a:ext cx="4937760" cy="493776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916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</a:rPr>
              <a:t>数据与口径要点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✓ 真实城市数据（只读加载，保证可复现）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✓ 网格 100×100×12，96 时相 × 15 min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✓ 建筑硬约束（避障）三方法共用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✓ 暴露口径：按格穿越时间计（修正后）</a:t>
            </a:r>
          </a:p>
          <a:p>
            <a:pPr algn="l" lvl="1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   绝对存活率可引用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✓ 统一后评估：无论谁规划的路径，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   都放回真实时空场按同一口径重算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8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1">
                <a:solidFill>
                  <a:srgbClr val="1F3864"/>
                </a:solidFill>
                <a:latin typeface="Microsoft YaHei"/>
              </a:rPr>
              <a:t>判读原则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Microsoft YaHei"/>
              </a:rPr>
              <a:t>主结果 = 风险下降 R_ST &lt; R_Static（R ≡ 累计危险率 H），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Microsoft YaHei"/>
              </a:rPr>
              <a:t>长度是代价项，不以「更短」为卖点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Microsoft YaHei"/>
              </a:rPr>
              <a:t>结果①：风险场显著时空异质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Result 1: Spatiotemporal Heterogeneity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463040"/>
            <a:ext cx="4343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1">
                <a:solidFill>
                  <a:srgbClr val="2E5C9A"/>
                </a:solidFill>
                <a:latin typeface="Microsoft YaHei"/>
              </a:rPr>
              <a:t>量化证据（尺度无关量）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空间异质（各时相）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C0392B"/>
                </a:solidFill>
                <a:latin typeface="Microsoft YaHei"/>
              </a:rPr>
              <a:t>  空间 CV = 0.45 ~ 0.49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时间异质（全 96 时相）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C0392B"/>
                </a:solidFill>
                <a:latin typeface="Microsoft YaHei"/>
              </a:rPr>
              <a:t>  时间 CV 中位 0.11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C0392B"/>
                </a:solidFill>
                <a:latin typeface="Microsoft YaHei"/>
              </a:rPr>
              <a:t>  相对极差中位 0.32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演化证据（图 3）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▸ (a) 走廊风险沿 96 时相连续演化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▸ (b) 人口双核反相位潮汐（15:45/00:00 峰）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▸ (c) 12h−22h 风险空间重分布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▸ (d) 垂直廓线峰谷比 2.14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6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</a:rPr>
              <a:t>→ H1 ✗ 拒绝：风险场不是一张静态图，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</a:rPr>
              <a:t>   显式建模时空维度是必要的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0350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图 3  时空异质性存在性证明：走廊-时间热图 / 人口反相位潮汐 / 差值图 / 垂直廓线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95959"/>
                </a:solidFill>
                <a:latin typeface="Microsoft YaHei"/>
              </a:rPr>
              <a:t>注：绝对暴露口径已修正（按格穿越时间计）；CV/相对极差为尺度无关量，结论稳健</a:t>
            </a:r>
          </a:p>
        </p:txBody>
      </p:sp>
      <p:pic>
        <p:nvPicPr>
          <p:cNvPr id="9" name="Picture 8" descr="fig5_heterogeneity_pro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417320"/>
            <a:ext cx="6602931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Microsoft YaHei"/>
              </a:rPr>
              <a:t>补充①：路径响应与两实验交叉验证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Path Response &amp;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5C9A"/>
                </a:solidFill>
                <a:latin typeface="Microsoft YaHei"/>
              </a:rPr>
              <a:t>TD-RiskA* 对出发时刻的响应（解锁定高）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路径长度极差 28.8 m（0.41%）→ 同走廊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跨时刻最大平均偏离 17.6 m &lt; 格对角线 68 m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P_surv = 0.9836 ~ 0.9878（口径修正后可引用）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高度自由度被实际使用：z = 30~100 m，爬升 12~18 m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→ 本 OD 无替代走廊，响应主要体现在高度微调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5C9A"/>
                </a:solidFill>
                <a:latin typeface="Microsoft YaHei"/>
              </a:rPr>
              <a:t>两实验交叉验证（同 OD 对照）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Exp1 解锁定高：L = 6962.6 ~ 6991.5 m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Exp2 定高锁 ST：L = 6953.3 ~ 6981.5 m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两者逐时刻仅差 9~15 m，P_surv 几乎一致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→ 高度绕行收益小，水平走廊主导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→ Exp2 的定高锁简化未损失结论有效性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776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图 4  三维路径与高度剖面（4 个出发时刻）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572000"/>
            <a:ext cx="5394960" cy="178308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8006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Microsoft YaHei"/>
              </a:rPr>
              <a:t>方法论意义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262626"/>
                </a:solidFill>
                <a:latin typeface="Microsoft YaHei"/>
              </a:rPr>
              <a:t>异质性存在 ≠ 路径必然分化：是否存在替代走廊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262626"/>
                </a:solidFill>
                <a:latin typeface="Microsoft YaHei"/>
              </a:rPr>
              <a:t>取决于 OD 走廊几何。本文核心结论不依赖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262626"/>
                </a:solidFill>
                <a:latin typeface="Microsoft YaHei"/>
              </a:rPr>
              <a:t>「路线切换」，而依赖「时空口径降低实际风险」。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C0392B"/>
                </a:solidFill>
                <a:latin typeface="Microsoft YaHei"/>
              </a:rPr>
              <a:t>→ 峰谷时刻压力测试见下页（补充②）</a:t>
            </a:r>
          </a:p>
        </p:txBody>
      </p:sp>
      <p:pic>
        <p:nvPicPr>
          <p:cNvPr id="12" name="Picture 11" descr="fig3b_path_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20240"/>
            <a:ext cx="5394960" cy="17880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Microsoft YaHei"/>
              </a:rPr>
              <a:t>补充②：峰谷压力测试——对比度拉满仍同走廊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Microsoft YaHei"/>
              </a:rPr>
              <a:t>Stress Test: Path Response at Risk-Peak / Trough Departures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394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5C9A"/>
                </a:solidFill>
                <a:latin typeface="Microsoft YaHei"/>
              </a:rPr>
              <a:t>为什么要压力测试？</a:t>
            </a:r>
          </a:p>
          <a:p>
            <a:r>
              <a:rPr sz="1500" b="0">
                <a:solidFill>
                  <a:srgbClr val="262626"/>
                </a:solidFill>
                <a:latin typeface="Microsoft YaHei"/>
              </a:rPr>
              <a:t>▸ 基准四时刻（08/12/18/22）恰好避开</a:t>
            </a:r>
          </a:p>
          <a:p>
            <a:r>
              <a:rPr sz="1500" b="0">
                <a:solidFill>
                  <a:srgbClr val="262626"/>
                </a:solidFill>
                <a:latin typeface="Microsoft YaHei"/>
              </a:rPr>
              <a:t>   走廊风险峰（05:45）与谷（17:45）</a:t>
            </a:r>
          </a:p>
          <a:p>
            <a:r>
              <a:rPr sz="1500" b="0">
                <a:solidFill>
                  <a:srgbClr val="262626"/>
                </a:solidFill>
                <a:latin typeface="Microsoft YaHei"/>
              </a:rPr>
              <a:t>▸ ΔP_crash(12h−22h) 均值仅 1.4e-5，</a:t>
            </a:r>
          </a:p>
          <a:p>
            <a:r>
              <a:rPr sz="1500" b="0">
                <a:solidFill>
                  <a:srgbClr val="262626"/>
                </a:solidFill>
                <a:latin typeface="Microsoft YaHei"/>
              </a:rPr>
              <a:t>   时间对比度弱 → 路径分化证据受限</a:t>
            </a:r>
          </a:p>
          <a:p>
            <a:r>
              <a:rPr sz="1500" b="0">
                <a:solidFill>
                  <a:srgbClr val="262626"/>
                </a:solidFill>
                <a:latin typeface="Microsoft YaHei"/>
              </a:rPr>
              <a:t>▸ 补跑风险峰/谷出发时刻，把对比度拉满</a:t>
            </a:r>
          </a:p>
          <a:p>
            <a:r>
              <a:rPr sz="1500" b="1">
                <a:solidFill>
                  <a:srgbClr val="262626"/>
                </a:solidFill>
                <a:latin typeface="Microsoft YaHei"/>
              </a:rPr>
              <a:t>   （走廊风险峰谷比 1.34）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5C9A"/>
                </a:solidFill>
                <a:latin typeface="Microsoft YaHei"/>
              </a:rPr>
              <a:t>结果：对比度拉满，仍然同走廊</a:t>
            </a:r>
          </a:p>
          <a:p>
            <a:r>
              <a:rPr sz="1500" b="1">
                <a:solidFill>
                  <a:srgbClr val="262626"/>
                </a:solidFill>
                <a:latin typeface="Microsoft YaHei"/>
              </a:rPr>
              <a:t>L 极差 30.3 m（0.43%），P_surv 0.9832~0.9878</a:t>
            </a:r>
          </a:p>
          <a:p>
            <a:r>
              <a:rPr sz="1500" b="0">
                <a:solidFill>
                  <a:srgbClr val="262626"/>
                </a:solidFill>
                <a:latin typeface="Microsoft YaHei"/>
              </a:rPr>
              <a:t>最大两两平均偏离 18.0 m ≪ 格对角线 68 m</a:t>
            </a:r>
          </a:p>
          <a:p>
            <a:r>
              <a:rPr sz="1500" b="0">
                <a:solidFill>
                  <a:srgbClr val="262626"/>
                </a:solidFill>
                <a:latin typeface="Microsoft YaHei"/>
              </a:rPr>
              <a:t>图 (b)(c) 判定：same corridor（亚格级调整）</a:t>
            </a:r>
          </a:p>
          <a:p>
            <a:r>
              <a:rPr sz="1400" b="1">
                <a:solidFill>
                  <a:srgbClr val="C0392B"/>
                </a:solidFill>
                <a:latin typeface="Microsoft YaHei"/>
              </a:rPr>
              <a:t>→ 「无替代走廊」不是对比度不足造成的假象；</a:t>
            </a:r>
          </a:p>
          <a:p>
            <a:r>
              <a:rPr sz="1400" b="1">
                <a:solidFill>
                  <a:srgbClr val="C0392B"/>
                </a:solidFill>
                <a:latin typeface="Microsoft YaHei"/>
              </a:rPr>
              <a:t>   出发时刻不改变走廊，响应体现在高度微调</a:t>
            </a:r>
          </a:p>
        </p:txBody>
      </p:sp>
      <p:pic>
        <p:nvPicPr>
          <p:cNvPr id="8" name="Picture 7" descr="fig1_risk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394960" cy="31233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61386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Microsoft YaHei"/>
              </a:rPr>
              <a:t>图 5  峰谷压力测试（05:45 风险峰 / 17:45 风险谷）</a:t>
            </a:r>
          </a:p>
          <a:p>
            <a:r>
              <a:rPr sz="1100" b="0">
                <a:solidFill>
                  <a:srgbClr val="595959"/>
                </a:solidFill>
                <a:latin typeface="Microsoft YaHei"/>
              </a:rPr>
              <a:t>路径叠画·分歧放大·偏离矩阵·Δ 面板；判定语 same corridor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257800"/>
            <a:ext cx="5394960" cy="109728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5413248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  <a:latin typeface="Microsoft YaHei"/>
              </a:rPr>
              <a:t>判定规则（图 c）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偏离 &gt; 格对角线（68 m）⇒ 走廊切换；实测最大 18.0 m ⇒ same corridor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Microsoft YaHei"/>
              </a:rPr>
              <a:t>结果②：时空感知规划显著更安全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Result 2: Spatiotemporal Planning Beats Static Risk Map</a:t>
            </a:r>
          </a:p>
        </p:txBody>
      </p:sp>
      <p:pic>
        <p:nvPicPr>
          <p:cNvPr id="6" name="Picture 5" descr="fig3_adap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7" y="1353312"/>
            <a:ext cx="8412480" cy="24997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8587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图 6  (a)(b) 存活率/危险率随出发时刻；(c) 长度-风险 trade-off（Static→ST 箭头即主结论）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24528"/>
            <a:ext cx="2670048" cy="146304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224528"/>
            <a:ext cx="2670048" cy="8229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</a:rPr>
              <a:t>R_ST &lt; R_Static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1F3864"/>
                </a:solidFill>
                <a:latin typeface="Microsoft YaHei"/>
              </a:rPr>
              <a:t>4 / 4 时刻成立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安全收益一致稳健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9584" y="4224528"/>
            <a:ext cx="2670048" cy="146304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9584" y="4224528"/>
            <a:ext cx="2670048" cy="8229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4343400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</a:rPr>
              <a:t>ΔL = −3.59%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1F3864"/>
                </a:solidFill>
                <a:latin typeface="Microsoft YaHei"/>
              </a:rPr>
              <a:t>ST 更短且更安全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长度代价为负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4224528"/>
            <a:ext cx="2670048" cy="146304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4224528"/>
            <a:ext cx="2670048" cy="8229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4343400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</a:rPr>
              <a:t>path-change rate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C0392B"/>
                </a:solidFill>
                <a:latin typeface="Microsoft YaHei"/>
              </a:rPr>
              <a:t>0.187 ≥ 0.10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走廊级改道（&gt;1格点占比）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25712" y="4224528"/>
            <a:ext cx="2670048" cy="146304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25712" y="4224528"/>
            <a:ext cx="2670048" cy="82296"/>
          </a:xfrm>
          <a:prstGeom prst="rect">
            <a:avLst/>
          </a:prstGeom>
          <a:solidFill>
            <a:srgbClr val="2E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4343400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Microsoft YaHei"/>
              </a:rPr>
              <a:t>P_surv ≈ 0.98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1F3864"/>
                </a:solidFill>
                <a:latin typeface="Microsoft YaHei"/>
              </a:rPr>
              <a:t>绝对值可引用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暴露口径已修正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7044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核心证据：Static 用时间平均风险图选次优走廊；4/4 时刻走廊级改道（偏离 33–50 m，改道率 0.187）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H2 ✓ 成立：代价不是个别时刻——全部考察时刻均付代价（多走 238~266 m 且风险更高）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62626"/>
                </a:solidFill>
                <a:latin typeface="Microsoft YaHei"/>
              </a:rPr>
              <a:t>显著性 = 决策级：改道率 0.187&gt;0.10 + 4/4 同向 + 长度代价为负；绝对 ΔH≈3e-4 依赖 λ_base 标定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Microsoft YaHei"/>
              </a:rPr>
              <a:t>结论与展望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Conclusions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800" b="1">
                <a:solidFill>
                  <a:srgbClr val="2E5C9A"/>
                </a:solidFill>
                <a:latin typeface="Microsoft YaHei"/>
              </a:rPr>
              <a:t>结论：科学问题的答案是「会」</a:t>
            </a:r>
          </a:p>
          <a:p>
            <a:r>
              <a:rPr sz="1400" b="1">
                <a:solidFill>
                  <a:srgbClr val="C0392B"/>
                </a:solidFill>
                <a:latin typeface="Microsoft YaHei"/>
              </a:rPr>
              <a:t>静态风险图让每次出发都付出代价（比「某些时刻」更普遍）：</a:t>
            </a:r>
          </a:p>
          <a:p>
            <a:r>
              <a:rPr sz="1400" b="1">
                <a:solidFill>
                  <a:srgbClr val="C0392B"/>
                </a:solidFill>
                <a:latin typeface="Microsoft YaHei"/>
              </a:rPr>
              <a:t>次优走廊（多走 238~266 m）+ 更高风险（4/4 时刻成立）</a:t>
            </a:r>
          </a:p>
          <a:p>
            <a:r>
              <a:rPr sz="6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1500" b="1">
                <a:solidFill>
                  <a:srgbClr val="1F3864"/>
                </a:solidFill>
                <a:latin typeface="Microsoft YaHei"/>
              </a:rPr>
              <a:t>1. 机制：城市低空风险场显著时空异质（H1 ✗ 拒绝）</a:t>
            </a:r>
          </a:p>
          <a:p>
            <a:r>
              <a:rPr sz="1300" b="0">
                <a:solidFill>
                  <a:srgbClr val="595959"/>
                </a:solidFill>
                <a:latin typeface="Microsoft YaHei"/>
              </a:rPr>
              <a:t>   （空间 CV≈0.45，时间相对极差≈0.32）</a:t>
            </a:r>
          </a:p>
          <a:p>
            <a:r>
              <a:rPr sz="1500" b="1">
                <a:solidFill>
                  <a:srgbClr val="1F3864"/>
                </a:solidFill>
                <a:latin typeface="Microsoft YaHei"/>
              </a:rPr>
              <a:t>2. 方法：时空感知规划 4/4 时刻更低风险（H2 ✓ 成立），</a:t>
            </a:r>
          </a:p>
          <a:p>
            <a:r>
              <a:rPr sz="1300" b="0">
                <a:solidFill>
                  <a:srgbClr val="595959"/>
                </a:solidFill>
                <a:latin typeface="Microsoft YaHei"/>
              </a:rPr>
              <a:t>   且长度代价为负（更短且更安全）</a:t>
            </a:r>
          </a:p>
          <a:p>
            <a:r>
              <a:rPr sz="1500" b="1">
                <a:solidFill>
                  <a:srgbClr val="1F3864"/>
                </a:solidFill>
                <a:latin typeface="Microsoft YaHei"/>
              </a:rPr>
              <a:t>3. 证据：时间平均风险图选次优走廊；</a:t>
            </a:r>
          </a:p>
          <a:p>
            <a:r>
              <a:rPr sz="1300" b="0">
                <a:solidFill>
                  <a:srgbClr val="595959"/>
                </a:solidFill>
                <a:latin typeface="Microsoft YaHei"/>
              </a:rPr>
              <a:t>   时空口径引发走廊级改道（率 0.187）</a:t>
            </a:r>
          </a:p>
          <a:p>
            <a:r>
              <a:rPr sz="6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1800" b="1">
                <a:solidFill>
                  <a:srgbClr val="2E5C9A"/>
                </a:solidFill>
                <a:latin typeface="Microsoft YaHei"/>
              </a:rPr>
              <a:t>一句话总结</a:t>
            </a:r>
          </a:p>
          <a:p>
            <a:r>
              <a:rPr sz="1500" b="1">
                <a:solidFill>
                  <a:srgbClr val="1F3864"/>
                </a:solidFill>
                <a:latin typeface="Microsoft YaHei"/>
              </a:rPr>
              <a:t>时间平均的风险图会掩盖时段性风险尖峰；</a:t>
            </a:r>
          </a:p>
          <a:p>
            <a:r>
              <a:rPr sz="1500" b="1">
                <a:solidFill>
                  <a:srgbClr val="1F3864"/>
                </a:solidFill>
                <a:latin typeface="Microsoft YaHei"/>
              </a:rPr>
              <a:t>显式建模时空异质性，能让无人机</a:t>
            </a:r>
          </a:p>
          <a:p>
            <a:r>
              <a:rPr sz="1500" b="1">
                <a:solidFill>
                  <a:srgbClr val="1F3864"/>
                </a:solidFill>
                <a:latin typeface="Microsoft YaHei"/>
              </a:rPr>
              <a:t>在同样的距离预算下飞得更安全。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463040"/>
            <a:ext cx="4663440" cy="475488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78308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1F3864"/>
                </a:solidFill>
                <a:latin typeface="Microsoft YaHei"/>
              </a:rPr>
              <a:t>展望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多 OD / 多城市扩展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 现结论限定于当前走廊，普适性需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 多样本验证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真实气象接入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 降雨情景一键切换已就绪，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 可接入实测降雨/风场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在线重规划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 风险预报更新时的路径动态调整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▸ 消融实验（Exp3）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 各风险组件贡献分解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Microsoft YaHei"/>
              </a:rPr>
              <a:t>备用页：口径修正与稳健性验证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Backup: Calibration &amp;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394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5C9A"/>
                </a:solidFill>
                <a:latin typeface="Microsoft YaHei"/>
              </a:rPr>
              <a:t>暴露口径修正（方法论严谨性）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▸ P_crash 按格穿越时间计暴露（Cox：h=λ·Φ·dt）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修正旧口径「每格暴露 15 min」的高估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▸ 权重按暴露倍率同比重标定，保持风险-运营权衡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C0392B"/>
                </a:solidFill>
                <a:latin typeface="Microsoft YaHei"/>
              </a:rPr>
              <a:t>▸ 修正前后：P_surv 0.06→0.98（绝对值现可引用）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▸ 交叉验证：尺度无关统计量（CV/相对极差）修正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前后完全一致 → 相对结论不受口径影响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5C9A"/>
                </a:solidFill>
                <a:latin typeface="Microsoft YaHei"/>
              </a:rPr>
              <a:t>公平对照设计（三重控制）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▸ 同 OD / 同权重 / 同搜索器，仅风险时间口径不同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▸ 统一后评估：全部路径在真实时空场上重算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▸ Static 跨时刻路径恒等（实现正确性自检通过）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▸ 权重敏感性扫描（4 档）防「挑参数」质疑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417320"/>
            <a:ext cx="4983480" cy="5074920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691640"/>
            <a:ext cx="4434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1">
                <a:solidFill>
                  <a:srgbClr val="1F3864"/>
                </a:solidFill>
                <a:latin typeface="Microsoft YaHei"/>
              </a:rPr>
              <a:t>预设答辩问题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Microsoft YaHei"/>
              </a:rPr>
              <a:t>Q1 为什么不用静态风险图？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A：会付出安全代价——多走 238~266 m 且风险更高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Microsoft YaHei"/>
              </a:rPr>
              <a:t>Q2 权重是挑出来的吗？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A：权重按暴露倍率机械重标定 + 敏感性扫描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Microsoft YaHei"/>
              </a:rPr>
              <a:t>Q3 只有一个 OD，结论普适吗？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A：结论限定该走廊；多 OD 扩展在展望中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Microsoft YaHei"/>
              </a:rPr>
              <a:t>Q4 绝对存活率可信吗？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A：暴露口径已修正可引用；方法间相对比较不受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   标定影响（同一后评估口径）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Microsoft YaHei"/>
              </a:rPr>
              <a:t>Q5 为什么 ST 路径不随时刻大改？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</a:rPr>
              <a:t>   A：本 OD 无替代走廊（峰谷压力测试见补充②）；收益来自避开时段性尖峰</a:t>
            </a:r>
          </a:p>
          <a:p>
            <a:r>
              <a:rPr sz="1400" b="1">
                <a:solidFill>
                  <a:srgbClr val="1F3864"/>
                </a:solidFill>
                <a:latin typeface="Microsoft YaHei"/>
              </a:rPr>
              <a:t>Q6 与 Pang (2022)/TRC (2026) 有何区别？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  A：物理驱动动态性（Cox PHM+潮汐人口+S-T 噪声），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     TRC 无物理建模、Pang 风险全静态（见相关工作页）</a:t>
            </a:r>
          </a:p>
          <a:p>
            <a:r>
              <a:rPr sz="1400" b="1">
                <a:solidFill>
                  <a:srgbClr val="262626"/>
                </a:solidFill>
                <a:latin typeface="Microsoft YaHei"/>
              </a:rPr>
              <a:t>Q7 风险绝对差（ΔH≈3e-4）很小，值得吗？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  A：价值=决策级证据：改道率 0.187&gt;0.10、4/4 同向、长度代价为负；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     绝对值依赖 λ_base 标定，风险容忍越严代价等比放大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>
                <a:solidFill>
                  <a:srgbClr val="1F3864"/>
                </a:solidFill>
                <a:latin typeface="Microsoft YaHei"/>
              </a:rPr>
              <a:t>备用页：主结果完整数据（Table 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326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</a:rPr>
              <a:t>Backup: Full Results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442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时刻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463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4630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长度 (m)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4630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致死风险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4630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财产风险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46304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噪声风险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463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P_surv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14630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993392"/>
            <a:ext cx="10744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1168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08:00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01168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Distance-only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011680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5319.3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01168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5.83e-5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01168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1.453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01168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1.062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011680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0.9808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201168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0.01939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340864"/>
            <a:ext cx="10744200" cy="3474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359152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08:00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235915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Static-Risk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359152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7219.6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35915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8.31e-6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3591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0.188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3591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359152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0.9832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235915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0.01698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688336"/>
            <a:ext cx="10744200" cy="347472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2706624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08:00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270662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C0392B"/>
                </a:solidFill>
                <a:latin typeface="Microsoft YaHei"/>
              </a:rPr>
              <a:t>Spatiotemporal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2706624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6981.5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70662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9.50e-6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706624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0.211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2706624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0.066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2706624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0.9835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44200" y="270662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0.01659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035808"/>
            <a:ext cx="10744200" cy="3474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3054096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12:00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305409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Distance-only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080" y="3054096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5319.3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305409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6.31e-5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054096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1.272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3054096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0.824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3054096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0.9833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44200" y="305409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0.01683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3383280"/>
            <a:ext cx="10744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3401568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12:00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00200" y="340156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Static-Risk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9080" y="34015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7219.6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34015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6.21e-6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340156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0.164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80" y="340156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0.044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3401568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0.9856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44200" y="34015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0.01448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3730752"/>
            <a:ext cx="10744200" cy="347472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374904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12:00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0200" y="374904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C0392B"/>
                </a:solidFill>
                <a:latin typeface="Microsoft YaHei"/>
              </a:rPr>
              <a:t>Spatiotemporal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69080" y="3749040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6953.3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0" y="374904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7.33e-6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374904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0.189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83880" y="374904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0.062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09760" y="3749040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0.9860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44200" y="374904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0.01415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4078224"/>
            <a:ext cx="10744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096512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18:00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00200" y="40965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Distance-only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69080" y="4096512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5319.3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409651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4.50e-5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409651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1.119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80" y="409651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1.039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09760" y="4096512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0.9854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44200" y="409651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0.01470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4425696"/>
            <a:ext cx="10744200" cy="3474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4443984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18:00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00200" y="444398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Static-Risk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69080" y="4443984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7219.6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0" y="444398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6.44e-6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0" y="4443984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0.144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83880" y="4443984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0.043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09760" y="4443984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0.9876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744200" y="444398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0.01244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1520" y="4773168"/>
            <a:ext cx="10744200" cy="347472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1520" y="4791456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18:00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00200" y="479145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C0392B"/>
                </a:solidFill>
                <a:latin typeface="Microsoft YaHei"/>
              </a:rPr>
              <a:t>Spatiotemporal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69080" y="4791456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6953.3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0" y="479145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7.50e-6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0" y="4791456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0.164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83880" y="4791456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0.074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09760" y="4791456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0.9879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44200" y="479145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0.01215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5120640"/>
            <a:ext cx="10744200" cy="3474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5138928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22:00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00200" y="513892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Distance-only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69080" y="51389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5319.3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0" y="513892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3.48e-5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0" y="513892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1.198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83880" y="5138928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1.247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09760" y="5138928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0.9843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44200" y="51389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0.01578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1520" y="5468112"/>
            <a:ext cx="10744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1520" y="548640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22:00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00200" y="548640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Static-Risk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69080" y="5486400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7219.6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0" y="54864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6.66e-6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0" y="548640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0.154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83880" y="5486400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0.050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09760" y="5486400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0.9866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744200" y="548640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262626"/>
                </a:solidFill>
                <a:latin typeface="Microsoft YaHei"/>
              </a:rPr>
              <a:t>0.01347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31520" y="5815584"/>
            <a:ext cx="10744200" cy="347472"/>
          </a:xfrm>
          <a:prstGeom prst="rect">
            <a:avLst/>
          </a:prstGeom>
          <a:solidFill>
            <a:srgbClr val="E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1520" y="5833872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22:00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00200" y="583387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C0392B"/>
                </a:solidFill>
                <a:latin typeface="Microsoft YaHei"/>
              </a:rPr>
              <a:t>Spatiotemporal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69080" y="5833872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6953.3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0" y="58338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7.62e-6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0" y="583387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0.176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183880" y="583387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0.089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09760" y="5833872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0.9870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44200" y="58338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</a:rPr>
              <a:t>0.01313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1520" y="63550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</a:rPr>
              <a:t>统一后评估口径（真实时空场重算）；红色行 = 本文方法；R_ST &lt; R_Static 4/4 时刻成立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